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0" y="-457200"/>
            <a:ext cx="5029200" cy="5943600"/>
          </a:xfrm>
          <a:prstGeom prst="rect">
            <a:avLst/>
          </a:prstGeom>
          <a:solidFill>
            <a:srgbClr val="1B2A4A">
              <a:alpha val="80000"/>
            </a:srgbClr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7EE"/>
                </a:solidFill>
              </a:rPr>
              <a:t>GREYHAT4HIRE (PTY) LTD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Phishing Awareness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Training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A261"/>
                </a:solidFill>
              </a:rPr>
              <a:t>Protect Yourself — and the Organisation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8AA"/>
                </a:solidFill>
              </a:rPr>
              <a:t>POPIA · Cybercrimes Act · NIST SP 800-61 · South Africa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8AA"/>
                </a:solidFill>
              </a:rPr>
              <a:t>STAFF SECURITY AWARENESS TRAINING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We'll Cover Today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2/22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822960"/>
            <a:ext cx="411480" cy="411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22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8503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</a:rPr>
              <a:t>What is Phishing?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05156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8AA"/>
                </a:solidFill>
              </a:rPr>
              <a:t>Types and how attackers think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1399032"/>
            <a:ext cx="411480" cy="411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14264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</a:rPr>
              <a:t>Real-World SA Examples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162763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8AA"/>
                </a:solidFill>
              </a:rPr>
              <a:t>Local threats you need to know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1975104"/>
            <a:ext cx="411480" cy="411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9751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200253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</a:rPr>
              <a:t>Anatomy of an Attack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220370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8AA"/>
                </a:solidFill>
              </a:rPr>
              <a:t>How to spot a phishing email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551176"/>
            <a:ext cx="411480" cy="411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5511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25786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</a:rPr>
              <a:t>Smishing &amp; Vishing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277977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8AA"/>
                </a:solidFill>
              </a:rPr>
              <a:t>Beyond email: SMS and phone attacks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" y="3127248"/>
            <a:ext cx="411480" cy="411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3154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</a:rPr>
              <a:t>What to Do If You're Targeted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335584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8AA"/>
                </a:solidFill>
              </a:rPr>
              <a:t>Report — Don't Click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3703320"/>
            <a:ext cx="411480" cy="411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73075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</a:rPr>
              <a:t>POPIA &amp; Your Obligations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39319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8AA"/>
                </a:solidFill>
              </a:rPr>
              <a:t>Legal responsibilities in South Africa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4279392"/>
            <a:ext cx="411480" cy="411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4279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2960" y="43068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</a:rPr>
              <a:t>Test Your Knowledge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450799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8AA"/>
                </a:solidFill>
              </a:rPr>
              <a:t>Quick quiz before you go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777240"/>
            <a:ext cx="4114800" cy="4114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896112"/>
            <a:ext cx="3840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4A261"/>
                </a:solidFill>
              </a:rPr>
              <a:t>⏱ Duration: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30–45 minutes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4A261"/>
                </a:solidFill>
              </a:rPr>
              <a:t>📋 Mandatory for: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DD7EE"/>
                </a:solidFill>
              </a:rPr>
              <a:t>All staff, contractors, and third parties with access to company systems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4A261"/>
                </a:solidFill>
              </a:rPr>
              <a:t>⚠️  Legal basis: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DD7EE"/>
                </a:solidFill>
              </a:rPr>
              <a:t>POPIA Act 4 of 2013 requires organisations to train employees who process personal information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F4F8"/>
                </a:solidFill>
              </a:rPr>
              <a:t>✅  After this session you will be able to: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F4F8"/>
                </a:solidFill>
              </a:rPr>
              <a:t>• Identify phishing attempts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F4F8"/>
                </a:solidFill>
              </a:rPr>
              <a:t>• Know what to do if targeted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F4F8"/>
                </a:solidFill>
              </a:rPr>
              <a:t>• Understand your legal obligations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0"/>
            <a:ext cx="9144000" cy="10058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BDD7EE"/>
                </a:solidFill>
              </a:rPr>
              <a:t>SECTION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is Phishing?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188720"/>
            <a:ext cx="1097280" cy="1097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3/22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The Most Common Cyber Attack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DEFINITION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4/22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5303520" cy="1188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841248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</a:rPr>
              <a:t>Phishing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is a social engineering attack where criminals impersonate trusted entities — banks, SARS, your CEO, or IT department — to trick you into: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48840"/>
            <a:ext cx="5303520" cy="438912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2148840"/>
            <a:ext cx="109728" cy="43891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671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</a:rPr>
              <a:t>Revealing passwords or credentials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" y="2670048"/>
            <a:ext cx="5303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670048"/>
            <a:ext cx="109728" cy="438912"/>
          </a:xfrm>
          <a:prstGeom prst="rect">
            <a:avLst/>
          </a:prstGeom>
          <a:solidFill>
            <a:srgbClr val="E26B0A"/>
          </a:solidFill>
          <a:ln w="12700">
            <a:solidFill>
              <a:srgbClr val="E26B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68833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</a:rPr>
              <a:t>Clicking malicious links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3191256"/>
            <a:ext cx="5303520" cy="438912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3191256"/>
            <a:ext cx="109728" cy="438912"/>
          </a:xfrm>
          <a:prstGeom prst="rect">
            <a:avLst/>
          </a:prstGeom>
          <a:solidFill>
            <a:srgbClr val="E26B0A"/>
          </a:solidFill>
          <a:ln w="12700">
            <a:solidFill>
              <a:srgbClr val="E26B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20954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</a:rPr>
              <a:t>Opening infected attachments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" y="3712464"/>
            <a:ext cx="5303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3712464"/>
            <a:ext cx="109728" cy="43891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73075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</a:rPr>
              <a:t>Transferring money or data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0" y="804672"/>
            <a:ext cx="2834640" cy="19202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0" y="914400"/>
            <a:ext cx="2834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94%</a:t>
            </a:r>
            <a:endParaRPr lang="en-US" sz="5600" dirty="0"/>
          </a:p>
        </p:txBody>
      </p:sp>
      <p:sp>
        <p:nvSpPr>
          <p:cNvPr id="24" name="Text 22"/>
          <p:cNvSpPr/>
          <p:nvPr/>
        </p:nvSpPr>
        <p:spPr>
          <a:xfrm>
            <a:off x="5943600" y="182880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of malware is delivered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via email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0" y="2834640"/>
            <a:ext cx="2834640" cy="1645920"/>
          </a:xfrm>
          <a:prstGeom prst="rect">
            <a:avLst/>
          </a:prstGeom>
          <a:solidFill>
            <a:srgbClr val="1F4D78"/>
          </a:solidFill>
          <a:ln w="12700">
            <a:solidFill>
              <a:srgbClr val="1F4D7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292608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In South Africa:
</a:t>
            </a:r>
            <a:pPr indent="0" marL="0">
              <a:buNone/>
            </a:pPr>
            <a:r>
              <a:rPr lang="en-US" sz="1000" dirty="0">
                <a:solidFill>
                  <a:srgbClr val="BDD7EE"/>
                </a:solidFill>
              </a:rPr>
              <a:t>Phishing is the #1 initial attack vector. SA saw a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37% increase</a:t>
            </a:r>
            <a:pPr indent="0" marL="0">
              <a:buNone/>
            </a:pPr>
            <a:r>
              <a:rPr lang="en-US" sz="1000" dirty="0">
                <a:solidFill>
                  <a:srgbClr val="BDD7EE"/>
                </a:solidFill>
              </a:rPr>
              <a:t> in phishing attacks targeting employees in 2023–2024.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The Many Faces of Phishing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5/22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27889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2E74B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04672"/>
            <a:ext cx="2788920" cy="384048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8229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Email Phishing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1261872"/>
            <a:ext cx="25786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Mass-sent fake emails impersonating banks, SARS, FNB, Standard Bank, or your IT department. Low effort — high volume.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04672"/>
            <a:ext cx="27889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E639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04672"/>
            <a:ext cx="2788920" cy="38404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8229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Spear Phishing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64408" y="1261872"/>
            <a:ext cx="25786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Targeted attack using your name, job title, or colleague names. Researched from LinkedIn / social media. Very convincing.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804672"/>
            <a:ext cx="27889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F4A2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804672"/>
            <a:ext cx="2788920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8229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Whaling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44768" y="1261872"/>
            <a:ext cx="25786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Targets CEOs, CFOs, and directors. Aims to authorise large wire transfers or steal sensitive corporate data.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770632"/>
            <a:ext cx="27889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0D6E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770632"/>
            <a:ext cx="2788920" cy="384048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27889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Smishing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" y="3227832"/>
            <a:ext cx="25786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Phishing via SMS. 'Your ABSA account is suspended — click here.' Common with SA mobile banking customers.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770632"/>
            <a:ext cx="27889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1F4D7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770632"/>
            <a:ext cx="2788920" cy="384048"/>
          </a:xfrm>
          <a:prstGeom prst="rect">
            <a:avLst/>
          </a:prstGeom>
          <a:solidFill>
            <a:srgbClr val="1F4D78"/>
          </a:solidFill>
          <a:ln w="12700">
            <a:solidFill>
              <a:srgbClr val="1F4D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4408" y="27889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Vishing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64408" y="3227832"/>
            <a:ext cx="25786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Voice phishing — a 'bank' or 'SAPS officer' calls demanding your OTP or card details.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2770632"/>
            <a:ext cx="2788920" cy="1828800"/>
          </a:xfrm>
          <a:prstGeom prst="rect">
            <a:avLst/>
          </a:prstGeom>
          <a:solidFill>
            <a:srgbClr val="FFFFFF"/>
          </a:solidFill>
          <a:ln w="38100">
            <a:solidFill>
              <a:srgbClr val="2D37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35040" y="2770632"/>
            <a:ext cx="2788920" cy="38404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7889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Clone Phishing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44768" y="3227832"/>
            <a:ext cx="25786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A real email you previously received is cloned with a malicious link replacing the legitimate one.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Real South African Phishing Examples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SA FOCUS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6/22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8503920" cy="1261872"/>
          </a:xfrm>
          <a:prstGeom prst="rect">
            <a:avLst/>
          </a:prstGeom>
          <a:solidFill>
            <a:srgbClr val="FFFFFF"/>
          </a:solidFill>
          <a:ln w="38100">
            <a:solidFill>
              <a:srgbClr val="E639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804672"/>
            <a:ext cx="137160" cy="12618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859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</a:rPr>
              <a:t>SARS eTax Alert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188720"/>
            <a:ext cx="8138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Subject: 'Your SARS eTax return requires immediate action'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Sender: noreply@sars-tax-refund.co.za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Link leads to fake SARS login page harvesting your SA ID number and banking credentials.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157984"/>
            <a:ext cx="8503920" cy="1261872"/>
          </a:xfrm>
          <a:prstGeom prst="rect">
            <a:avLst/>
          </a:prstGeom>
          <a:solidFill>
            <a:srgbClr val="FFFFFF"/>
          </a:solidFill>
          <a:ln w="38100">
            <a:solidFill>
              <a:srgbClr val="F4A2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157984"/>
            <a:ext cx="137160" cy="12618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128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</a:rPr>
              <a:t>FNB / ABSA / Nedbank SMS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2542032"/>
            <a:ext cx="8138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'Your FNB online banking has been suspended due to suspicious activity. Verify: http://fnb-secure.net/verify'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Plain URL, SMS urgency, fake domain — all red flags.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511296"/>
            <a:ext cx="8503920" cy="1261872"/>
          </a:xfrm>
          <a:prstGeom prst="rect">
            <a:avLst/>
          </a:prstGeom>
          <a:solidFill>
            <a:srgbClr val="FFFFFF"/>
          </a:solidFill>
          <a:ln w="38100">
            <a:solidFill>
              <a:srgbClr val="2E74B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511296"/>
            <a:ext cx="137160" cy="126187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4B5"/>
                </a:solidFill>
              </a:rPr>
              <a:t>CEO Invoice Fraud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895344"/>
            <a:ext cx="8138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Email from 'CEO@yourcompany-sa.com' (note hyphen) to Finance: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'Please process an urgent payment of R450,000 to this new supplier. Keep confidential.' CEO is 'travelling'.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0"/>
            <a:ext cx="9144000" cy="10058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BDD7EE"/>
                </a:solidFill>
              </a:rPr>
              <a:t>SECTION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Anatomy of a Phishing Email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188720"/>
            <a:ext cx="1097280" cy="1097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7/22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 Warning Signs in Every Phishing Email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8/22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41605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04672"/>
            <a:ext cx="4160520" cy="3200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822960"/>
            <a:ext cx="39319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1. Suspicious Sender Domain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117043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Check the ACTUAL email address — not the display name. 'ABSA Bank &lt;service@absa-alerts.net&gt;' — that .net domain is fake. Hover, don't trust.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17720" y="804672"/>
            <a:ext cx="41605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804672"/>
            <a:ext cx="4160520" cy="320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822960"/>
            <a:ext cx="39319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2. Urgency &amp; Fear Tactics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160" y="117043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'Your account will be closed in 24 hours!' Attackers create panic to stop you thinking clearly. Pause. Verify via official channels.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176272"/>
            <a:ext cx="41605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176272"/>
            <a:ext cx="4160520" cy="32004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194560"/>
            <a:ext cx="39319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3. Generic Greeting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" y="254203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'Dear Customer' or 'Dear User' instead of your name. Your bank knows your name.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17720" y="2176272"/>
            <a:ext cx="41605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2176272"/>
            <a:ext cx="4160520" cy="320040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2194560"/>
            <a:ext cx="39319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4. Suspicious Links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160" y="254203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Hover over links before clicking. Does the URL match the official domain? 'paypal-secure-login.com' is NOT PayPal.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547872"/>
            <a:ext cx="41605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547872"/>
            <a:ext cx="4160520" cy="3200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566160"/>
            <a:ext cx="39319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5. Unexpected Attachments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391363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Unexpected .zip, .doc, .pdf, or .exe attachments — especially invoices or 'HR letters' you weren't expecting.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3547872"/>
            <a:ext cx="41605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17720" y="3547872"/>
            <a:ext cx="4160520" cy="320040"/>
          </a:xfrm>
          <a:prstGeom prst="rect">
            <a:avLst/>
          </a:prstGeom>
          <a:solidFill>
            <a:srgbClr val="8898AA"/>
          </a:solidFill>
          <a:ln w="12700">
            <a:solidFill>
              <a:srgbClr val="8898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566160"/>
            <a:ext cx="39319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6. Poor Spelling / Grammar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09160" y="391363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Professional organisations proofread their emails. Typos and broken English are red flags — though well-crafted attacks can look perfect.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How to Check a Suspicious Link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HANDS-ON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9/22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850392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4124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https://absa-banking-verify.co.za/account/login?token=abc123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411480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D6E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836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6E8A"/>
                </a:solidFill>
              </a:rPr>
              <a:t>Protocol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1214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898AA"/>
                </a:solidFill>
              </a:rPr>
              <a:t>Secure = good, but attackers use HTTPS too. Don't trust HTTPS alone.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11480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1638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3946"/>
                </a:solidFill>
              </a:rPr>
              <a:t>Domain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absa-banking-verify.co.za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898AA"/>
                </a:solidFill>
              </a:rPr>
              <a:t>FAKE! Real ABSA domain is absa.co.za — hyphens and extra words are red flags.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0" y="1828800"/>
            <a:ext cx="411480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8836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A261"/>
                </a:solidFill>
              </a:rPr>
              <a:t>Path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63440" y="21214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/account/login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63440" y="237744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898AA"/>
                </a:solidFill>
              </a:rPr>
              <a:t>Login pages in email links are almost always phishing.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3108960"/>
            <a:ext cx="411480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8898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1638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8AA"/>
                </a:solidFill>
              </a:rPr>
              <a:t>Token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66344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?token=abc123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63440" y="36576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898AA"/>
                </a:solidFill>
              </a:rPr>
              <a:t>Tracks which target clicked — so attackers know you took the bait.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20040" y="4343400"/>
            <a:ext cx="8503920" cy="411480"/>
          </a:xfrm>
          <a:prstGeom prst="rect">
            <a:avLst/>
          </a:prstGeom>
          <a:solidFill>
            <a:srgbClr val="2E74B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💡  GOLDEN RULE: When in doubt, go directly to the official website — type it yourself. Never click links in unexpected emails.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4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0"/>
            <a:ext cx="9144000" cy="10058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BDD7EE"/>
                </a:solidFill>
              </a:rPr>
              <a:t>SECTION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Smishing, Vishing &amp; Beyond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188720"/>
            <a:ext cx="1097280" cy="1097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10/22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Smishing: Phishing via SMS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11/22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4114800" cy="3977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8686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</a:rPr>
              <a:t>Example SMS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ABSA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ABSA account has been temporarily suspended due to suspicious activity. Verify immediately: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4688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http://absa-verify.co.za/unlock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will be permanently closed in 2 hours if not verified.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868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</a:rPr>
              <a:t>Red flags in this SMS: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280160"/>
            <a:ext cx="109728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298448"/>
            <a:ext cx="3840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✗  Urgency + fear of account loss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1755648"/>
            <a:ext cx="4114800" cy="411480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755648"/>
            <a:ext cx="109728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773936"/>
            <a:ext cx="3840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✗  Fake domain (absa-verify.co.za)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231136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2231136"/>
            <a:ext cx="109728" cy="4114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249424"/>
            <a:ext cx="3840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✗  Sent from generic number, not ABSA shortcode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706624"/>
            <a:ext cx="4114800" cy="411480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706624"/>
            <a:ext cx="109728" cy="4114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724912"/>
            <a:ext cx="3840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✗  No personalisation — 'your account'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182112"/>
            <a:ext cx="109728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3200400"/>
            <a:ext cx="3840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✗  2-hour deadline to create panic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794760"/>
            <a:ext cx="4114800" cy="594360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3822192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✅  Your bank will NEVER ask you to click a link in an SMS to verify or unblock your account. Call the number on the back of your 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Vishing: Phone-Based Social Engineering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12/22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8503920" cy="3657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046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TYPICAL VISHING SCRIPT — READ THIS AND YOU'LL RECOGNISE IT INSTANTLY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100584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31673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ATTACKER: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1298448"/>
            <a:ext cx="745236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63040" y="1316736"/>
            <a:ext cx="7223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'Good morning, I'm calling from FNB Fraud Prevention. My name is James from the Johannesburg office. Badge number 47821.'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828800"/>
            <a:ext cx="1005840" cy="457200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84708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YOU: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71600" y="1828800"/>
            <a:ext cx="7452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63040" y="1847088"/>
            <a:ext cx="7223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'...okay?'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359152"/>
            <a:ext cx="100584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37744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ATTACKER: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2359152"/>
            <a:ext cx="745236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63040" y="2377440"/>
            <a:ext cx="7223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'We've detected suspicious activity on your account — someone in Cape Town just tried to transfer R12,000. Did you authorise this?'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889504"/>
            <a:ext cx="1005840" cy="457200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9077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YOU: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371600" y="2889504"/>
            <a:ext cx="7452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63040" y="2907792"/>
            <a:ext cx="7223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'No!'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19856"/>
            <a:ext cx="100584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ATTACKER: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371600" y="3419856"/>
            <a:ext cx="745236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63040" y="3438144"/>
            <a:ext cx="7223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'Don't worry, I can reverse it immediately, but I need to verify it's you. Can you confirm your card number and the OTP we're sending you now?'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069080"/>
            <a:ext cx="850392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4096512"/>
            <a:ext cx="8229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A261"/>
                </a:solidFill>
              </a:rPr>
              <a:t>🛑  STOP: Hang up. Call the official bank number yourself. Never give your OTP to anyone who calls you — including someone claiming to be IT, SAPS, or your CEO.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4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0"/>
            <a:ext cx="9144000" cy="10058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BDD7EE"/>
                </a:solidFill>
              </a:rPr>
              <a:t>SECTION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To Do If You're Targeted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188720"/>
            <a:ext cx="1097280" cy="1097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13/22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You Receive a Suspicious Email — What Now?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14/22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2560320" cy="1417320"/>
          </a:xfrm>
          <a:prstGeom prst="rect">
            <a:avLst/>
          </a:prstGeom>
          <a:solidFill>
            <a:srgbClr val="FFFFFF"/>
          </a:solidFill>
          <a:ln w="38100">
            <a:solidFill>
              <a:srgbClr val="E639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868680"/>
            <a:ext cx="2560320" cy="43891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STOP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3716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Don't click any links or open attachments. Don't reply.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868680"/>
            <a:ext cx="2560320" cy="1417320"/>
          </a:xfrm>
          <a:prstGeom prst="rect">
            <a:avLst/>
          </a:prstGeom>
          <a:solidFill>
            <a:srgbClr val="FFFFFF"/>
          </a:solidFill>
          <a:ln w="38100">
            <a:solidFill>
              <a:srgbClr val="F4A2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868680"/>
            <a:ext cx="2560320" cy="43891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9144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THINK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13716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Does this email make sense? Were you expecting it? Check sender domain carefully.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72200" y="868680"/>
            <a:ext cx="2560320" cy="1417320"/>
          </a:xfrm>
          <a:prstGeom prst="rect">
            <a:avLst/>
          </a:prstGeom>
          <a:solidFill>
            <a:srgbClr val="FFFFFF"/>
          </a:solidFill>
          <a:ln w="38100">
            <a:solidFill>
              <a:srgbClr val="0D6E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868680"/>
            <a:ext cx="2560320" cy="438912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9144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VERIFY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63640" y="13716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If unsure, contact the sender directly using a known phone number — NOT by replying to the email.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91640" y="2606040"/>
            <a:ext cx="2560320" cy="1417320"/>
          </a:xfrm>
          <a:prstGeom prst="rect">
            <a:avLst/>
          </a:prstGeom>
          <a:solidFill>
            <a:srgbClr val="FFFFFF"/>
          </a:solidFill>
          <a:ln w="38100">
            <a:solidFill>
              <a:srgbClr val="2E74B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691640" y="2606040"/>
            <a:ext cx="2560320" cy="43891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83080" y="2651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REPORT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78308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Forward to your security team or use the 'Report Phishing' button. Even if you're not sure — report it.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92040" y="2606040"/>
            <a:ext cx="2560320" cy="1417320"/>
          </a:xfrm>
          <a:prstGeom prst="rect">
            <a:avLst/>
          </a:prstGeom>
          <a:solidFill>
            <a:srgbClr val="FFFFFF"/>
          </a:solidFill>
          <a:ln w="38100">
            <a:solidFill>
              <a:srgbClr val="1F4D7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2606040"/>
            <a:ext cx="2560320" cy="438912"/>
          </a:xfrm>
          <a:prstGeom prst="rect">
            <a:avLst/>
          </a:prstGeom>
          <a:solidFill>
            <a:srgbClr val="1F4D78"/>
          </a:solidFill>
          <a:ln w="12700">
            <a:solidFill>
              <a:srgbClr val="1F4D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2651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DOCUMENT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8348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</a:rPr>
              <a:t>Note the time, sender, and what you did. This helps the security team respond faster.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1572768"/>
            <a:ext cx="365760" cy="0"/>
          </a:xfrm>
          <a:prstGeom prst="line">
            <a:avLst/>
          </a:prstGeom>
          <a:noFill/>
          <a:ln w="25400">
            <a:solidFill>
              <a:srgbClr val="8898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06440" y="1572768"/>
            <a:ext cx="365760" cy="0"/>
          </a:xfrm>
          <a:prstGeom prst="line">
            <a:avLst/>
          </a:prstGeom>
          <a:noFill/>
          <a:ln w="25400">
            <a:solidFill>
              <a:srgbClr val="8898A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4160520"/>
            <a:ext cx="8503920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41879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A261"/>
                </a:solidFill>
              </a:rPr>
              <a:t>⚠️  IF YOU CLICKED a link or opened an attachment: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Disconnect from Wi-Fi immediately. Call IT Security NOW. Do not try to fix it yourself.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How to Report a Phishing Attempt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15/22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85039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109728" cy="8686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8503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4B5"/>
                </a:solidFill>
              </a:rPr>
              <a:t>📧  Forward the Email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12471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Forward the suspicious email to your designated security reporting address (e.g. security@yourcompany.com). Include the original as an attachment if possible to preserve headers.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1764792"/>
            <a:ext cx="8503920" cy="868680"/>
          </a:xfrm>
          <a:prstGeom prst="rect">
            <a:avLst/>
          </a:prstGeom>
          <a:solidFill>
            <a:srgbClr val="F8F8F8"/>
          </a:solidFill>
          <a:ln w="25400">
            <a:solidFill>
              <a:srgbClr val="0D6E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764792"/>
            <a:ext cx="109728" cy="868680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10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E8A"/>
                </a:solidFill>
              </a:rPr>
              <a:t>🔘  Use Report Phishing Button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848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In Microsoft Outlook: Select email → Report Message → Phishing. In Gmail: Three dots menu → Report phishing. This also alerts Microsoft/Google.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724912"/>
            <a:ext cx="85039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24912"/>
            <a:ext cx="109728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7706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</a:rPr>
              <a:t>📞  Call IT Security Directly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4495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If you clicked a link or opened an attachment — call the IT Security hotline immediately. This is time-critical.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685032"/>
            <a:ext cx="8503920" cy="868680"/>
          </a:xfrm>
          <a:prstGeom prst="rect">
            <a:avLst/>
          </a:prstGeom>
          <a:solidFill>
            <a:srgbClr val="F8F8F8"/>
          </a:solidFill>
          <a:ln w="254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3685032"/>
            <a:ext cx="109728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730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</a:rPr>
              <a:t>📝  Log it in the Incident Register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00507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All security incidents must be logged per the Incident Response Plan. Even near-misses help identify attack campaigns.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4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0"/>
            <a:ext cx="9144000" cy="10058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BDD7EE"/>
                </a:solidFill>
              </a:rPr>
              <a:t>SECTION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POPIA &amp; Your Legal Obligations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188720"/>
            <a:ext cx="1097280" cy="1097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16/22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Why Phishing is a POPIA Issue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LEGAL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17/22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512064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" y="868680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</a:rPr>
              <a:t>POPIA Act 4 of 2013
</a:t>
            </a:r>
            <a:pPr indent="0" marL="0">
              <a:buNone/>
            </a:pPr>
            <a:r>
              <a:rPr lang="en-US" sz="1100" dirty="0">
                <a:solidFill>
                  <a:srgbClr val="BDD7EE"/>
                </a:solidFill>
              </a:rPr>
              <a:t>Requires your organisation to implement appropriate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technical and organisational measures</a:t>
            </a:r>
            <a:pPr indent="0" marL="0">
              <a:buNone/>
            </a:pPr>
            <a:r>
              <a:rPr lang="en-US" sz="1100" dirty="0">
                <a:solidFill>
                  <a:srgbClr val="BDD7EE"/>
                </a:solidFill>
              </a:rPr>
              <a:t> to protect personal information from loss, damage, and unauthorised access.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304288"/>
            <a:ext cx="5120640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32257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3946"/>
                </a:solidFill>
              </a:rPr>
              <a:t>If you fall for a phishing attack that exposes customer data: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706624"/>
            <a:ext cx="5120640" cy="347472"/>
          </a:xfrm>
          <a:prstGeom prst="rect">
            <a:avLst/>
          </a:prstGeom>
          <a:solidFill>
            <a:srgbClr val="252545"/>
          </a:solidFill>
          <a:ln w="12700">
            <a:solidFill>
              <a:srgbClr val="3333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272491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→  The organisation may be required to notify the Information Regulator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108960"/>
            <a:ext cx="512064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31272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→  Affected data subjects (customers, employees) must be notified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511296"/>
            <a:ext cx="5120640" cy="347472"/>
          </a:xfrm>
          <a:prstGeom prst="rect">
            <a:avLst/>
          </a:prstGeom>
          <a:solidFill>
            <a:srgbClr val="252545"/>
          </a:solidFill>
          <a:ln w="12700">
            <a:solidFill>
              <a:srgbClr val="3333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3529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→  Fines up to R10 million or imprisonment up to 10 years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3913632"/>
            <a:ext cx="512064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→  Reputational damage — loss of client trust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4315968"/>
            <a:ext cx="5120640" cy="347472"/>
          </a:xfrm>
          <a:prstGeom prst="rect">
            <a:avLst/>
          </a:prstGeom>
          <a:solidFill>
            <a:srgbClr val="252545"/>
          </a:solidFill>
          <a:ln w="12700">
            <a:solidFill>
              <a:srgbClr val="3333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A261"/>
                </a:solidFill>
              </a:rPr>
              <a:t>→  You personally may face disciplinary action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0" y="804672"/>
            <a:ext cx="3154680" cy="4023360"/>
          </a:xfrm>
          <a:prstGeom prst="rect">
            <a:avLst/>
          </a:prstGeom>
          <a:solidFill>
            <a:srgbClr val="F0F4F8"/>
          </a:solidFill>
          <a:ln w="25400">
            <a:solidFill>
              <a:srgbClr val="2E74B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806440" y="86868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4B5"/>
                </a:solidFill>
              </a:rPr>
              <a:t>Your obligations as an employee: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06440" y="126187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✓  Handle personal information with care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06440" y="168249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✓  Never share login credentials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06440" y="2103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3946"/>
                </a:solidFill>
              </a:rPr>
              <a:t>✓  Report suspected breaches immediately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06440" y="252374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✓  Do not send PI via unencrypted email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06440" y="29443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✓  Lock your screen when away from desk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06440" y="336499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✓  Follow the Data Classification Policy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06440" y="378561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✓  Complete mandatory security training annually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Cybercrimes Act 19 of 2020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0" y="1097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SA LAW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18/22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8503920" cy="5029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22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 Cybercrimes Act makes phishing-related activities CRIMINAL OFFENCES in South Africa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94360" cy="749808"/>
          </a:xfrm>
          <a:prstGeom prst="rect">
            <a:avLst/>
          </a:prstGeom>
          <a:solidFill>
            <a:srgbClr val="1F4D78"/>
          </a:solidFill>
          <a:ln w="12700">
            <a:solidFill>
              <a:srgbClr val="1F4D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481328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DD7EE"/>
                </a:solidFill>
              </a:rPr>
              <a:t>s.2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05840" y="15179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</a:rPr>
              <a:t>Unlawful access to computer systems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1792224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</a:rPr>
              <a:t>Someone using phishing to access your company's systems commits a crime — and so does any insider who assists.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8503920" cy="74980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304288"/>
            <a:ext cx="594360" cy="749808"/>
          </a:xfrm>
          <a:prstGeom prst="rect">
            <a:avLst/>
          </a:prstGeom>
          <a:solidFill>
            <a:srgbClr val="1F4D78"/>
          </a:solidFill>
          <a:ln w="12700">
            <a:solidFill>
              <a:srgbClr val="1F4D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322576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DD7EE"/>
                </a:solidFill>
              </a:rPr>
              <a:t>s.4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05840" y="23591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</a:rPr>
              <a:t>Unlawful interception of data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2633472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</a:rPr>
              <a:t>Capturing login credentials or personal data via fake login pages is a criminal offence.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45536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145536"/>
            <a:ext cx="594360" cy="749808"/>
          </a:xfrm>
          <a:prstGeom prst="rect">
            <a:avLst/>
          </a:prstGeom>
          <a:solidFill>
            <a:srgbClr val="1F4D78"/>
          </a:solidFill>
          <a:ln w="12700">
            <a:solidFill>
              <a:srgbClr val="1F4D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163824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DD7EE"/>
                </a:solidFill>
              </a:rPr>
              <a:t>s.8-9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" y="32004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</a:rPr>
              <a:t>Fraud and extortion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3474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</a:rPr>
              <a:t>BEC attacks and ransomware following phishing compromise are prosecutable under the Act.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3986784"/>
            <a:ext cx="8503920" cy="74980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3986784"/>
            <a:ext cx="594360" cy="749808"/>
          </a:xfrm>
          <a:prstGeom prst="rect">
            <a:avLst/>
          </a:prstGeom>
          <a:solidFill>
            <a:srgbClr val="1F4D78"/>
          </a:solidFill>
          <a:ln w="12700">
            <a:solidFill>
              <a:srgbClr val="1F4D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005072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DD7EE"/>
                </a:solidFill>
              </a:rPr>
              <a:t>s.54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05840" y="40416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</a:rPr>
              <a:t>Reporting obligations for financial institutions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43159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</a:rPr>
              <a:t>Banks and financial service providers must report cyber incidents to the SAPS.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4818888"/>
            <a:ext cx="8503920" cy="0"/>
          </a:xfrm>
          <a:prstGeom prst="rect">
            <a:avLst/>
          </a:prstGeom>
          <a:noFill/>
          <a:ln w="12700">
            <a:solidFill>
              <a:srgbClr val="2E74B5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4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0"/>
            <a:ext cx="9144000" cy="10058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BDD7EE"/>
                </a:solidFill>
              </a:rPr>
              <a:t>SECTION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Test Your Knowledge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188720"/>
            <a:ext cx="1097280" cy="1097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19/22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Quick Knowledge Check — 4 Questions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20/22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8503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229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Q1: You receive an email from 'HR@yourcompany-hr.co.za' asking you to urgently update your banking details. You should: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1216152"/>
            <a:ext cx="4160520" cy="65836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16152"/>
            <a:ext cx="384048" cy="658368"/>
          </a:xfrm>
          <a:prstGeom prst="rect">
            <a:avLst/>
          </a:prstGeom>
          <a:solidFill>
            <a:srgbClr val="8898AA"/>
          </a:solidFill>
          <a:ln w="12700">
            <a:solidFill>
              <a:srgbClr val="8898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34440"/>
            <a:ext cx="384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125272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3748"/>
                </a:solidFill>
              </a:rPr>
              <a:t>Click the link and update your details immediately — HR wouldn't ask unless urgent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0" y="1216152"/>
            <a:ext cx="4160520" cy="658368"/>
          </a:xfrm>
          <a:prstGeom prst="rect">
            <a:avLst/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216152"/>
            <a:ext cx="384048" cy="6583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234440"/>
            <a:ext cx="384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25272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3748"/>
                </a:solidFill>
              </a:rPr>
              <a:t>Verify by calling HR directly using the number in the company directory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1965960"/>
            <a:ext cx="4160520" cy="65836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965960"/>
            <a:ext cx="384048" cy="658368"/>
          </a:xfrm>
          <a:prstGeom prst="rect">
            <a:avLst/>
          </a:prstGeom>
          <a:solidFill>
            <a:srgbClr val="8898AA"/>
          </a:solidFill>
          <a:ln w="12700">
            <a:solidFill>
              <a:srgbClr val="8898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1984248"/>
            <a:ext cx="384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2002536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3748"/>
                </a:solidFill>
              </a:rPr>
              <a:t>Forward it to your manager and wait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0" y="1965960"/>
            <a:ext cx="4160520" cy="65836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0" y="1965960"/>
            <a:ext cx="384048" cy="658368"/>
          </a:xfrm>
          <a:prstGeom prst="rect">
            <a:avLst/>
          </a:prstGeom>
          <a:solidFill>
            <a:srgbClr val="8898AA"/>
          </a:solidFill>
          <a:ln w="12700">
            <a:solidFill>
              <a:srgbClr val="8898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1984248"/>
            <a:ext cx="384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002536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3748"/>
                </a:solidFill>
              </a:rPr>
              <a:t>Reply to the email asking if it's genuine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0040" y="2889504"/>
            <a:ext cx="8503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29077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Q2: You accidentally clicked a link in a suspicious email. You should FIRST: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300984"/>
            <a:ext cx="4160520" cy="65836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3300984"/>
            <a:ext cx="384048" cy="658368"/>
          </a:xfrm>
          <a:prstGeom prst="rect">
            <a:avLst/>
          </a:prstGeom>
          <a:solidFill>
            <a:srgbClr val="8898AA"/>
          </a:solidFill>
          <a:ln w="12700">
            <a:solidFill>
              <a:srgbClr val="8898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319272"/>
            <a:ext cx="384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77240" y="3337560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3748"/>
                </a:solidFill>
              </a:rPr>
              <a:t>Close the browser and hope for the best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0" y="3300984"/>
            <a:ext cx="4160520" cy="65836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3300984"/>
            <a:ext cx="384048" cy="658368"/>
          </a:xfrm>
          <a:prstGeom prst="rect">
            <a:avLst/>
          </a:prstGeom>
          <a:solidFill>
            <a:srgbClr val="8898AA"/>
          </a:solidFill>
          <a:ln w="12700">
            <a:solidFill>
              <a:srgbClr val="8898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3319272"/>
            <a:ext cx="384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0" y="3337560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3748"/>
                </a:solidFill>
              </a:rPr>
              <a:t>Change your password immediately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0040" y="4050792"/>
            <a:ext cx="4160520" cy="658368"/>
          </a:xfrm>
          <a:prstGeom prst="rect">
            <a:avLst/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4050792"/>
            <a:ext cx="384048" cy="6583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4069080"/>
            <a:ext cx="384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77240" y="408736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3748"/>
                </a:solidFill>
              </a:rPr>
              <a:t>Disconnect from Wi-Fi/network and contact IT Security immediately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0" y="4050792"/>
            <a:ext cx="4160520" cy="658368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0" y="4050792"/>
            <a:ext cx="384048" cy="658368"/>
          </a:xfrm>
          <a:prstGeom prst="rect">
            <a:avLst/>
          </a:prstGeom>
          <a:solidFill>
            <a:srgbClr val="8898AA"/>
          </a:solidFill>
          <a:ln w="12700">
            <a:solidFill>
              <a:srgbClr val="8898A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0" y="4069080"/>
            <a:ext cx="384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029200" y="408736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3748"/>
                </a:solidFill>
              </a:rPr>
              <a:t>Run a full virus scan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Your 6 Golden Rules — Take These Away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7EE"/>
                </a:solidFill>
              </a:rPr>
              <a:t>Greyhat4Hire (Pty) Ltd  |  www.greyhat4hire.com  |  +27 84 635 3581</a:t>
            </a:r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   |   Slide 21/22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4160520" cy="1298448"/>
          </a:xfrm>
          <a:prstGeom prst="rect">
            <a:avLst/>
          </a:prstGeom>
          <a:solidFill>
            <a:srgbClr val="FFFFFF"/>
          </a:solidFill>
          <a:ln w="38100">
            <a:solidFill>
              <a:srgbClr val="E639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04672"/>
            <a:ext cx="457200" cy="129844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822960"/>
            <a:ext cx="457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877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</a:rPr>
              <a:t>Stop before you click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216152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Pause. One second of thought prevents hours of breach response.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804672"/>
            <a:ext cx="4160520" cy="1298448"/>
          </a:xfrm>
          <a:prstGeom prst="rect">
            <a:avLst/>
          </a:prstGeom>
          <a:solidFill>
            <a:srgbClr val="FFFFFF"/>
          </a:solidFill>
          <a:ln w="38100">
            <a:solidFill>
              <a:srgbClr val="F4A2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804672"/>
            <a:ext cx="457200" cy="12984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822960"/>
            <a:ext cx="457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166360" y="877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</a:rPr>
              <a:t>Check the sender domain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66360" y="1216152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Display names lie — always check the actual email address behind the name.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221992"/>
            <a:ext cx="4160520" cy="1298448"/>
          </a:xfrm>
          <a:prstGeom prst="rect">
            <a:avLst/>
          </a:prstGeom>
          <a:solidFill>
            <a:srgbClr val="FFFFFF"/>
          </a:solidFill>
          <a:ln w="38100">
            <a:solidFill>
              <a:srgbClr val="2E74B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221992"/>
            <a:ext cx="457200" cy="1298448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240280"/>
            <a:ext cx="457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" y="22951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4B5"/>
                </a:solidFill>
              </a:rPr>
              <a:t>Never share OTPs or passwords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2633472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No legitimate organisation will ever ask for these — not IT, not your bank, not SAPS.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0" y="2221992"/>
            <a:ext cx="4160520" cy="1298448"/>
          </a:xfrm>
          <a:prstGeom prst="rect">
            <a:avLst/>
          </a:prstGeom>
          <a:solidFill>
            <a:srgbClr val="FFFFFF"/>
          </a:solidFill>
          <a:ln w="38100">
            <a:solidFill>
              <a:srgbClr val="0D6E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2221992"/>
            <a:ext cx="457200" cy="1298448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2240280"/>
            <a:ext cx="457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66360" y="22951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E8A"/>
                </a:solidFill>
              </a:rPr>
              <a:t>Hover before you click links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66360" y="2633472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Check the real URL before clicking anything in an email or SMS.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" y="3639312"/>
            <a:ext cx="4160520" cy="1298448"/>
          </a:xfrm>
          <a:prstGeom prst="rect">
            <a:avLst/>
          </a:prstGeom>
          <a:solidFill>
            <a:srgbClr val="FFFFFF"/>
          </a:solidFill>
          <a:ln w="38100">
            <a:solidFill>
              <a:srgbClr val="1F4D7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3639312"/>
            <a:ext cx="457200" cy="1298448"/>
          </a:xfrm>
          <a:prstGeom prst="rect">
            <a:avLst/>
          </a:prstGeom>
          <a:solidFill>
            <a:srgbClr val="1F4D78"/>
          </a:solidFill>
          <a:ln w="12700">
            <a:solidFill>
              <a:srgbClr val="1F4D7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3657600"/>
            <a:ext cx="457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22960" y="37124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D78"/>
                </a:solidFill>
              </a:rPr>
              <a:t>Report, don't delete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4050792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Forward suspicious emails to security. Near-misses help us protect everyone.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0" y="3639312"/>
            <a:ext cx="4160520" cy="1298448"/>
          </a:xfrm>
          <a:prstGeom prst="rect">
            <a:avLst/>
          </a:prstGeom>
          <a:solidFill>
            <a:srgbClr val="FFFFFF"/>
          </a:solidFill>
          <a:ln w="38100">
            <a:solidFill>
              <a:srgbClr val="375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17720" y="3639312"/>
            <a:ext cx="457200" cy="129844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0" y="3657600"/>
            <a:ext cx="457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5166360" y="37124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5623"/>
                </a:solidFill>
              </a:rPr>
              <a:t>If in doubt, verify out-of-band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66360" y="4050792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</a:rPr>
              <a:t>Call the person/organisation using a number YOU looked up — not one provided in the suspicious message.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7EE"/>
                </a:solidFill>
              </a:rPr>
              <a:t>GREYHAT4HIRE (PTY) LTD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Training Complete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A261"/>
                </a:solidFill>
              </a:rPr>
              <a:t>Questions? Contact IT Security or speak to your line manager.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7772400" cy="1463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2316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</a:rPr>
              <a:t>📞 IT Security Incident Hotline: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[Your IT Security Number]
</a:t>
            </a:r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</a:rPr>
              <a:t>📧 Report Phishing: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security@[yourcompany.com]
</a:t>
            </a:r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</a:rPr>
              <a:t>🌐 Greyhat4Hire IR Retainer: </a:t>
            </a:r>
            <a:pPr indent="0" marL="0">
              <a:buNone/>
            </a:pPr>
            <a:r>
              <a:rPr lang="en-US" sz="1100" dirty="0">
                <a:solidFill>
                  <a:srgbClr val="BDD7EE"/>
                </a:solidFill>
              </a:rPr>
              <a:t>+27 84 635 3581  |  www.greyhat4hire.com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7772400" cy="502920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4005072"/>
            <a:ext cx="7589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Please complete the sign-off sheet confirming you have attended this training session. Your signature confirms understanding of your POPIA and security obligations.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Greyhat4Hire (Pty) Ltd  |  Reg: 2026/115528/07  |  Suite 2 Corals on Campbell, Umhlanga, Durban, 4320  |  www.greyhat4hire.com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Phishing Awareness Training — Greyhat4Hire</dc:title>
  <dc:subject>PptxGenJS Presentation</dc:subject>
  <dc:creator>Greyhat4Hire (Pty) Ltd</dc:creator>
  <cp:lastModifiedBy>Greyhat4Hire (Pty) Ltd</cp:lastModifiedBy>
  <cp:revision>1</cp:revision>
  <dcterms:created xsi:type="dcterms:W3CDTF">2026-02-27T17:40:43Z</dcterms:created>
  <dcterms:modified xsi:type="dcterms:W3CDTF">2026-02-27T17:40:43Z</dcterms:modified>
</cp:coreProperties>
</file>