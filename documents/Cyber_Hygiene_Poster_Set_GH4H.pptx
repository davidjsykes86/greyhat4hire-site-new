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389120" cy="6858000"/>
          </a:xfrm>
          <a:prstGeom prst="rect">
            <a:avLst/>
          </a:prstGeom>
          <a:solidFill>
            <a:srgbClr val="111E33"/>
          </a:solidFill>
          <a:ln w="12700">
            <a:solidFill>
              <a:srgbClr val="111E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097280"/>
            <a:ext cx="2377440" cy="23774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3566160"/>
            <a:ext cx="38404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PASSWORD</a:t>
            </a:r>
            <a:endParaRPr lang="en-US" sz="3400" dirty="0"/>
          </a:p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SECURITY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274320" y="525780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98AA"/>
                </a:solidFill>
              </a:rPr>
              <a:t>Poster 1 of 6 — Cyber Hygiene Series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4754880" y="365760"/>
            <a:ext cx="7132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F4A261"/>
                </a:solidFill>
              </a:rPr>
              <a:t>STRONG PASSWORD RULES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4754880" y="868680"/>
            <a:ext cx="7132320" cy="4572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754880" y="1051560"/>
            <a:ext cx="7132320" cy="868680"/>
          </a:xfrm>
          <a:prstGeom prst="rect">
            <a:avLst/>
          </a:prstGeom>
          <a:solidFill>
            <a:srgbClr val="FFFFFF"/>
          </a:solidFill>
          <a:ln w="38100">
            <a:solidFill>
              <a:srgbClr val="F4A261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2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54880" y="1051560"/>
            <a:ext cx="1371600" cy="86868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754880" y="1069848"/>
            <a:ext cx="137160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14+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6263640" y="1143000"/>
            <a:ext cx="5486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4A"/>
                </a:solidFill>
              </a:rPr>
              <a:t>Minimum 14 characters for standard accounts. 20+ for admin.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754880" y="2011680"/>
            <a:ext cx="7132320" cy="868680"/>
          </a:xfrm>
          <a:prstGeom prst="rect">
            <a:avLst/>
          </a:prstGeom>
          <a:solidFill>
            <a:srgbClr val="FFFFFF"/>
          </a:solidFill>
          <a:ln w="38100">
            <a:solidFill>
              <a:srgbClr val="0D9E8A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2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754880" y="2011680"/>
            <a:ext cx="1371600" cy="868680"/>
          </a:xfrm>
          <a:prstGeom prst="rect">
            <a:avLst/>
          </a:prstGeom>
          <a:solidFill>
            <a:srgbClr val="0D9E8A"/>
          </a:solidFill>
          <a:ln w="12700">
            <a:solidFill>
              <a:srgbClr val="0D9E8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754880" y="2029968"/>
            <a:ext cx="137160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Mix it up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6263640" y="2103120"/>
            <a:ext cx="5486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4A"/>
                </a:solidFill>
              </a:rPr>
              <a:t>Uppercase + lowercase + numbers + symbols. No dictionary words.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754880" y="2971800"/>
            <a:ext cx="7132320" cy="868680"/>
          </a:xfrm>
          <a:prstGeom prst="rect">
            <a:avLst/>
          </a:prstGeom>
          <a:solidFill>
            <a:srgbClr val="FFFFFF"/>
          </a:solidFill>
          <a:ln w="38100">
            <a:solidFill>
              <a:srgbClr val="E63946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20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754880" y="2971800"/>
            <a:ext cx="1371600" cy="86868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754880" y="2990088"/>
            <a:ext cx="137160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Never reuse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6263640" y="3063240"/>
            <a:ext cx="5486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4A"/>
                </a:solidFill>
              </a:rPr>
              <a:t>Every account needs a unique password. Use a password manager.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4754880" y="3931920"/>
            <a:ext cx="7132320" cy="868680"/>
          </a:xfrm>
          <a:prstGeom prst="rect">
            <a:avLst/>
          </a:prstGeom>
          <a:solidFill>
            <a:srgbClr val="FFFFFF"/>
          </a:solidFill>
          <a:ln w="38100">
            <a:solidFill>
              <a:srgbClr val="2E74B5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20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4754880" y="3931920"/>
            <a:ext cx="1371600" cy="868680"/>
          </a:xfrm>
          <a:prstGeom prst="rect">
            <a:avLst/>
          </a:prstGeom>
          <a:solidFill>
            <a:srgbClr val="2E74B5"/>
          </a:solidFill>
          <a:ln w="12700">
            <a:solidFill>
              <a:srgbClr val="2E74B5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754880" y="3950208"/>
            <a:ext cx="137160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No sharing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6263640" y="4023360"/>
            <a:ext cx="5486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4A"/>
                </a:solidFill>
              </a:rPr>
              <a:t>Your password is yours alone — not even IT needs it.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4754880" y="4892040"/>
            <a:ext cx="7132320" cy="868680"/>
          </a:xfrm>
          <a:prstGeom prst="rect">
            <a:avLst/>
          </a:prstGeom>
          <a:solidFill>
            <a:srgbClr val="FFFFFF"/>
          </a:solidFill>
          <a:ln w="38100">
            <a:solidFill>
              <a:srgbClr val="E63946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2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754880" y="4892040"/>
            <a:ext cx="1371600" cy="86868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754880" y="4910328"/>
            <a:ext cx="137160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Change on breach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6263640" y="4983480"/>
            <a:ext cx="5486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4A"/>
                </a:solidFill>
              </a:rPr>
              <a:t>Change immediately if you suspect a breach or receive an alert.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4754880" y="5943600"/>
            <a:ext cx="7132320" cy="530352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4846320" y="5961888"/>
            <a:ext cx="694944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🔑  Use a Password Manager — never write passwords on paper or in a spreadsheet.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0" y="6473952"/>
            <a:ext cx="1216152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274320" y="6492240"/>
            <a:ext cx="1161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98AA"/>
                </a:solidFill>
              </a:rPr>
              <a:t>GREYHAT4HIRE (PTY) LTD  |  Reg: 2026/115528/07  |  www.greyhat4hire.com  |  +27 84 635 3581  |  Suite 2 Corals on Campbell, Umhlanga, Durban, 4320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37160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91440"/>
            <a:ext cx="1097280" cy="10972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54480" y="4572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DON'T TAKE THE BAIT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1554480" y="868680"/>
            <a:ext cx="91440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spc="500" kern="0" dirty="0">
                <a:solidFill>
                  <a:srgbClr val="FFCCCC"/>
                </a:solidFill>
              </a:rPr>
              <a:t>PHISHING AWARENESS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274320" y="1508760"/>
            <a:ext cx="11612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F4A261"/>
                </a:solidFill>
              </a:rPr>
              <a:t>6 RED FLAGS TO SPOT INSTANTLY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274320" y="2011680"/>
            <a:ext cx="5715000" cy="1207008"/>
          </a:xfrm>
          <a:prstGeom prst="rect">
            <a:avLst/>
          </a:prstGeom>
          <a:solidFill>
            <a:srgbClr val="261010"/>
          </a:solidFill>
          <a:ln w="25400">
            <a:solidFill>
              <a:srgbClr val="E63946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2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274320" y="2011680"/>
            <a:ext cx="457200" cy="1207008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274320" y="2029968"/>
            <a:ext cx="45720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✗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822960" y="21031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A261"/>
                </a:solidFill>
              </a:rPr>
              <a:t>Suspicious sender domain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22960" y="2487168"/>
            <a:ext cx="50292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EEEEE"/>
                </a:solidFill>
              </a:rPr>
              <a:t>Check the ACTUAL email address. 'absa-alerts.net' is NOT ABSA.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172200" y="2011680"/>
            <a:ext cx="5715000" cy="1207008"/>
          </a:xfrm>
          <a:prstGeom prst="rect">
            <a:avLst/>
          </a:prstGeom>
          <a:solidFill>
            <a:srgbClr val="261010"/>
          </a:solidFill>
          <a:ln w="25400">
            <a:solidFill>
              <a:srgbClr val="E26B0A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2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172200" y="2011680"/>
            <a:ext cx="457200" cy="1207008"/>
          </a:xfrm>
          <a:prstGeom prst="rect">
            <a:avLst/>
          </a:prstGeom>
          <a:solidFill>
            <a:srgbClr val="E26B0A"/>
          </a:solidFill>
          <a:ln w="12700">
            <a:solidFill>
              <a:srgbClr val="E26B0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172200" y="2029968"/>
            <a:ext cx="45720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✗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6720840" y="21031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A261"/>
                </a:solidFill>
              </a:rPr>
              <a:t>Urgency / threats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6720840" y="2487168"/>
            <a:ext cx="50292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EEEEE"/>
                </a:solidFill>
              </a:rPr>
              <a:t>'Your account closes in 24hrs!' Panic is the attacker's weapon.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274320" y="3337560"/>
            <a:ext cx="5715000" cy="1207008"/>
          </a:xfrm>
          <a:prstGeom prst="rect">
            <a:avLst/>
          </a:prstGeom>
          <a:solidFill>
            <a:srgbClr val="261010"/>
          </a:solidFill>
          <a:ln w="25400">
            <a:solidFill>
              <a:srgbClr val="F4A261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20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274320" y="3337560"/>
            <a:ext cx="457200" cy="1207008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274320" y="3355848"/>
            <a:ext cx="45720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✗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822960" y="34290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A261"/>
                </a:solidFill>
              </a:rPr>
              <a:t>Generic greeting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22960" y="3813048"/>
            <a:ext cx="50292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EEEEE"/>
                </a:solidFill>
              </a:rPr>
              <a:t>'Dear Customer' — your bank knows your name.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6172200" y="3337560"/>
            <a:ext cx="5715000" cy="1207008"/>
          </a:xfrm>
          <a:prstGeom prst="rect">
            <a:avLst/>
          </a:prstGeom>
          <a:solidFill>
            <a:srgbClr val="261010"/>
          </a:solidFill>
          <a:ln w="25400">
            <a:solidFill>
              <a:srgbClr val="2E74B5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20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6172200" y="3337560"/>
            <a:ext cx="457200" cy="1207008"/>
          </a:xfrm>
          <a:prstGeom prst="rect">
            <a:avLst/>
          </a:prstGeom>
          <a:solidFill>
            <a:srgbClr val="2E74B5"/>
          </a:solidFill>
          <a:ln w="12700">
            <a:solidFill>
              <a:srgbClr val="2E74B5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172200" y="3355848"/>
            <a:ext cx="45720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✗</a:t>
            </a:r>
            <a:endParaRPr lang="en-US" sz="1800" dirty="0"/>
          </a:p>
        </p:txBody>
      </p:sp>
      <p:sp>
        <p:nvSpPr>
          <p:cNvPr id="25" name="Text 22"/>
          <p:cNvSpPr/>
          <p:nvPr/>
        </p:nvSpPr>
        <p:spPr>
          <a:xfrm>
            <a:off x="6720840" y="34290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A261"/>
                </a:solidFill>
              </a:rPr>
              <a:t>Suspicious links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6720840" y="3813048"/>
            <a:ext cx="50292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EEEEE"/>
                </a:solidFill>
              </a:rPr>
              <a:t>Hover before clicking. Does the URL match the real domain?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274320" y="4663440"/>
            <a:ext cx="5715000" cy="1207008"/>
          </a:xfrm>
          <a:prstGeom prst="rect">
            <a:avLst/>
          </a:prstGeom>
          <a:solidFill>
            <a:srgbClr val="261010"/>
          </a:solidFill>
          <a:ln w="25400">
            <a:solidFill>
              <a:srgbClr val="E63946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20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274320" y="4663440"/>
            <a:ext cx="457200" cy="1207008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274320" y="4681728"/>
            <a:ext cx="45720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✗</a:t>
            </a:r>
            <a:endParaRPr lang="en-US" sz="1800" dirty="0"/>
          </a:p>
        </p:txBody>
      </p:sp>
      <p:sp>
        <p:nvSpPr>
          <p:cNvPr id="30" name="Text 27"/>
          <p:cNvSpPr/>
          <p:nvPr/>
        </p:nvSpPr>
        <p:spPr>
          <a:xfrm>
            <a:off x="822960" y="475488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A261"/>
                </a:solidFill>
              </a:rPr>
              <a:t>Unexpected attachments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22960" y="5138928"/>
            <a:ext cx="50292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EEEEE"/>
                </a:solidFill>
              </a:rPr>
              <a:t>Unexpected .zip, .pdf, .doc? Don't open it.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6172200" y="4663440"/>
            <a:ext cx="5715000" cy="1207008"/>
          </a:xfrm>
          <a:prstGeom prst="rect">
            <a:avLst/>
          </a:prstGeom>
          <a:solidFill>
            <a:srgbClr val="261010"/>
          </a:solidFill>
          <a:ln w="25400">
            <a:solidFill>
              <a:srgbClr val="E26B0A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20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6172200" y="4663440"/>
            <a:ext cx="457200" cy="1207008"/>
          </a:xfrm>
          <a:prstGeom prst="rect">
            <a:avLst/>
          </a:prstGeom>
          <a:solidFill>
            <a:srgbClr val="E26B0A"/>
          </a:solidFill>
          <a:ln w="12700">
            <a:solidFill>
              <a:srgbClr val="E26B0A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172200" y="4681728"/>
            <a:ext cx="45720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✗</a:t>
            </a:r>
            <a:endParaRPr lang="en-US" sz="1800" dirty="0"/>
          </a:p>
        </p:txBody>
      </p:sp>
      <p:sp>
        <p:nvSpPr>
          <p:cNvPr id="35" name="Text 32"/>
          <p:cNvSpPr/>
          <p:nvPr/>
        </p:nvSpPr>
        <p:spPr>
          <a:xfrm>
            <a:off x="6720840" y="475488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A261"/>
                </a:solidFill>
              </a:rPr>
              <a:t>Requests for credentials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6720840" y="5138928"/>
            <a:ext cx="50292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EEEEE"/>
                </a:solidFill>
              </a:rPr>
              <a:t>No legitimate org asks for passwords or OTPs via email.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0" y="6080760"/>
            <a:ext cx="12161520" cy="393192"/>
          </a:xfrm>
          <a:prstGeom prst="rect">
            <a:avLst/>
          </a:prstGeom>
          <a:solidFill>
            <a:srgbClr val="2E74B5"/>
          </a:solidFill>
          <a:ln w="12700">
            <a:solidFill>
              <a:srgbClr val="2E74B5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274320" y="6099048"/>
            <a:ext cx="11612880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IF IN DOUBT: Do NOT click. Forward to security@[yourcompany.com] or press the 'Report Phishing' button.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0" y="6473952"/>
            <a:ext cx="1216152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274320" y="6492240"/>
            <a:ext cx="1161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98AA"/>
                </a:solidFill>
              </a:rPr>
              <a:t>GREYHAT4HIRE (PTY) LTD  |  Reg: 2026/115528/07  |  www.greyhat4hire.com  |  +27 84 635 3581  |  Suite 2 Corals on Campbell, Umhlanga, Durban, 4320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4630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188720" cy="11887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45920" y="45720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DEVICE SECURITY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1645920" y="86868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BDD7EE"/>
                </a:solidFill>
              </a:rPr>
              <a:t>Your device is the gateway. Keep it secure.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274320" y="1627632"/>
            <a:ext cx="5623560" cy="1444752"/>
          </a:xfrm>
          <a:prstGeom prst="rect">
            <a:avLst/>
          </a:prstGeom>
          <a:solidFill>
            <a:srgbClr val="FFFFFF"/>
          </a:solidFill>
          <a:ln w="25400">
            <a:solidFill>
              <a:srgbClr val="2E74B5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2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274320" y="1627632"/>
            <a:ext cx="5623560" cy="475488"/>
          </a:xfrm>
          <a:prstGeom prst="rect">
            <a:avLst/>
          </a:prstGeom>
          <a:solidFill>
            <a:srgbClr val="2E74B5"/>
          </a:solidFill>
          <a:ln w="12700">
            <a:solidFill>
              <a:srgbClr val="2E74B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11480" y="1664208"/>
            <a:ext cx="5303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🔒  Lock your screen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11480" y="2176272"/>
            <a:ext cx="530352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A4A"/>
                </a:solidFill>
              </a:rPr>
              <a:t>Set auto-lock to ≤5 minutes. Press Win+L or Cmd+Ctrl+Q whenever you step away.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080760" y="1627632"/>
            <a:ext cx="5623560" cy="1444752"/>
          </a:xfrm>
          <a:prstGeom prst="rect">
            <a:avLst/>
          </a:prstGeom>
          <a:solidFill>
            <a:srgbClr val="FFFFFF"/>
          </a:solidFill>
          <a:ln w="25400">
            <a:solidFill>
              <a:srgbClr val="0D6E8A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2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080760" y="1627632"/>
            <a:ext cx="5623560" cy="475488"/>
          </a:xfrm>
          <a:prstGeom prst="rect">
            <a:avLst/>
          </a:prstGeom>
          <a:solidFill>
            <a:srgbClr val="0D6E8A"/>
          </a:solidFill>
          <a:ln w="12700">
            <a:solidFill>
              <a:srgbClr val="0D6E8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217920" y="1664208"/>
            <a:ext cx="5303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🛡  Full disk encryption ON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6217920" y="2176272"/>
            <a:ext cx="530352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A4A"/>
                </a:solidFill>
              </a:rPr>
              <a:t>BitLocker (Windows) or FileVault (Mac) must be enabled. Ask IT if unsure.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274320" y="3200400"/>
            <a:ext cx="5623560" cy="1444752"/>
          </a:xfrm>
          <a:prstGeom prst="rect">
            <a:avLst/>
          </a:prstGeom>
          <a:solidFill>
            <a:srgbClr val="FFFFFF"/>
          </a:solidFill>
          <a:ln w="25400">
            <a:solidFill>
              <a:srgbClr val="E63946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20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274320" y="3200400"/>
            <a:ext cx="5623560" cy="475488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11480" y="3236976"/>
            <a:ext cx="5303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⬆  Update promptly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411480" y="3749040"/>
            <a:ext cx="530352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A4A"/>
                </a:solidFill>
              </a:rPr>
              <a:t>Apply OS and software updates within 7 days. Patches fix the vulnerabilities attackers exploit.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6080760" y="3200400"/>
            <a:ext cx="5623560" cy="1444752"/>
          </a:xfrm>
          <a:prstGeom prst="rect">
            <a:avLst/>
          </a:prstGeom>
          <a:solidFill>
            <a:srgbClr val="FFFFFF"/>
          </a:solidFill>
          <a:ln w="25400">
            <a:solidFill>
              <a:srgbClr val="E26B0A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2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080760" y="3200400"/>
            <a:ext cx="5623560" cy="475488"/>
          </a:xfrm>
          <a:prstGeom prst="rect">
            <a:avLst/>
          </a:prstGeom>
          <a:solidFill>
            <a:srgbClr val="E26B0A"/>
          </a:solidFill>
          <a:ln w="12700">
            <a:solidFill>
              <a:srgbClr val="E26B0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217920" y="3236976"/>
            <a:ext cx="5303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⚠  No unauthorised software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6217920" y="3749040"/>
            <a:ext cx="530352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A4A"/>
                </a:solidFill>
              </a:rPr>
              <a:t>Only install software approved by IT. Unapproved apps may contain malware.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274320" y="4773168"/>
            <a:ext cx="5623560" cy="1444752"/>
          </a:xfrm>
          <a:prstGeom prst="rect">
            <a:avLst/>
          </a:prstGeom>
          <a:solidFill>
            <a:srgbClr val="FFFFFF"/>
          </a:solidFill>
          <a:ln w="25400">
            <a:solidFill>
              <a:srgbClr val="375623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20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274320" y="4773168"/>
            <a:ext cx="5623560" cy="475488"/>
          </a:xfrm>
          <a:prstGeom prst="rect">
            <a:avLst/>
          </a:prstGeom>
          <a:solidFill>
            <a:srgbClr val="375623"/>
          </a:solidFill>
          <a:ln w="12700">
            <a:solidFill>
              <a:srgbClr val="37562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11480" y="4809744"/>
            <a:ext cx="5303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🔑  MFA on everything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411480" y="5321808"/>
            <a:ext cx="530352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A4A"/>
                </a:solidFill>
              </a:rPr>
              <a:t>Multi-factor authentication adds a second lock. Enable it on all work accounts.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6080760" y="4773168"/>
            <a:ext cx="5623560" cy="1444752"/>
          </a:xfrm>
          <a:prstGeom prst="rect">
            <a:avLst/>
          </a:prstGeom>
          <a:solidFill>
            <a:srgbClr val="FFFFFF"/>
          </a:solidFill>
          <a:ln w="25400">
            <a:solidFill>
              <a:srgbClr val="E63946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20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6080760" y="4773168"/>
            <a:ext cx="5623560" cy="475488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217920" y="4809744"/>
            <a:ext cx="5303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📞  Report lost/stolen devices immediately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6217920" y="5321808"/>
            <a:ext cx="530352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A4A"/>
                </a:solidFill>
              </a:rPr>
              <a:t>Call IT Security within 1 hour. Remote wipe can protect data — but only if you act fast.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0" y="6473952"/>
            <a:ext cx="1216152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274320" y="6492240"/>
            <a:ext cx="1161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98AA"/>
                </a:solidFill>
              </a:rPr>
              <a:t>GREYHAT4HIRE (PTY) LTD  |  Reg: 2026/115528/07  |  www.greyhat4hire.com  |  +27 84 635 3581  |  Suite 2 Corals on Campbell, Umhlanga, Durban, 4320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1A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02237"/>
          </a:solidFill>
          <a:ln w="12700">
            <a:solidFill>
              <a:srgbClr val="0022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"/>
            <a:ext cx="3291840" cy="32918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3931920"/>
            <a:ext cx="40233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PUBLIC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Wi-Fi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DANGERS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4846320" y="274320"/>
            <a:ext cx="70408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00B4D8"/>
                </a:solidFill>
              </a:rPr>
              <a:t>THREATS ON PUBLIC NETWORKS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4846320" y="822960"/>
            <a:ext cx="7040880" cy="914400"/>
          </a:xfrm>
          <a:prstGeom prst="rect">
            <a:avLst/>
          </a:prstGeom>
          <a:solidFill>
            <a:srgbClr val="FFFFFF"/>
          </a:solidFill>
          <a:ln w="25400">
            <a:solidFill>
              <a:srgbClr val="E63946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2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4846320" y="822960"/>
            <a:ext cx="274320" cy="91440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257800" y="886968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3946"/>
                </a:solidFill>
              </a:rPr>
              <a:t>Man-in-the-Middle Attack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5257800" y="1207008"/>
            <a:ext cx="649224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A4A"/>
                </a:solidFill>
              </a:rPr>
              <a:t>An attacker on the same network intercepts your traffic and reads your data — including login credentials.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846320" y="1828800"/>
            <a:ext cx="7040880" cy="914400"/>
          </a:xfrm>
          <a:prstGeom prst="rect">
            <a:avLst/>
          </a:prstGeom>
          <a:solidFill>
            <a:srgbClr val="FFFFFF"/>
          </a:solidFill>
          <a:ln w="25400">
            <a:solidFill>
              <a:srgbClr val="E63946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2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846320" y="1828800"/>
            <a:ext cx="274320" cy="91440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257800" y="1892808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3946"/>
                </a:solidFill>
              </a:rPr>
              <a:t>Evil Twin / Fake Hotspot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5257800" y="2212848"/>
            <a:ext cx="649224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A4A"/>
                </a:solidFill>
              </a:rPr>
              <a:t>'Free Airport WiFi' might actually be an attacker's hotspot harvesting your credentials and session tokens.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846320" y="2834640"/>
            <a:ext cx="7040880" cy="914400"/>
          </a:xfrm>
          <a:prstGeom prst="rect">
            <a:avLst/>
          </a:prstGeom>
          <a:solidFill>
            <a:srgbClr val="FFFFFF"/>
          </a:solidFill>
          <a:ln w="25400">
            <a:solidFill>
              <a:srgbClr val="F4A261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2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846320" y="2834640"/>
            <a:ext cx="274320" cy="91440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257800" y="2898648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A261"/>
                </a:solidFill>
              </a:rPr>
              <a:t>Session Hijacking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5257800" y="3218688"/>
            <a:ext cx="649224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A4A"/>
                </a:solidFill>
              </a:rPr>
              <a:t>Attackers capture your session cookies from unencrypted connections to impersonate you on websites.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4846320" y="3840480"/>
            <a:ext cx="7040880" cy="914400"/>
          </a:xfrm>
          <a:prstGeom prst="rect">
            <a:avLst/>
          </a:prstGeom>
          <a:solidFill>
            <a:srgbClr val="FFFFFF"/>
          </a:solidFill>
          <a:ln w="25400">
            <a:solidFill>
              <a:srgbClr val="E63946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20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4846320" y="3840480"/>
            <a:ext cx="274320" cy="91440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257800" y="3904488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3946"/>
                </a:solidFill>
              </a:rPr>
              <a:t>Malware Distribution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5257800" y="4224528"/>
            <a:ext cx="649224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A4A"/>
                </a:solidFill>
              </a:rPr>
              <a:t>Compromised public networks can inject malware into file downloads or redirect browsers to malicious sites.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4846320" y="4937760"/>
            <a:ext cx="7040880" cy="13716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20000"/>
              </a:srgbClr>
            </a:outerShdw>
          </a:effectLst>
        </p:spPr>
      </p:sp>
      <p:sp>
        <p:nvSpPr>
          <p:cNvPr id="24" name="Text 21"/>
          <p:cNvSpPr/>
          <p:nvPr/>
        </p:nvSpPr>
        <p:spPr>
          <a:xfrm>
            <a:off x="4937760" y="498348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1A2C"/>
                </a:solidFill>
              </a:rPr>
              <a:t>STAY SAFE ON PUBLIC Wi-Fi: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4937760" y="5394960"/>
            <a:ext cx="685800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1A2C"/>
                </a:solidFill>
              </a:rPr>
              <a:t>✓  Always use the company VPN — mandatory for any work activity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4937760" y="5614416"/>
            <a:ext cx="685800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1A2C"/>
                </a:solidFill>
              </a:rPr>
              <a:t>✓  Never access banking or sensitive systems on public Wi-Fi without VPN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4937760" y="5833872"/>
            <a:ext cx="685800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1A2C"/>
                </a:solidFill>
              </a:rPr>
              <a:t>✓  Disable Wi-Fi auto-connect. Forget public networks after use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4937760" y="6053328"/>
            <a:ext cx="685800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1A2C"/>
                </a:solidFill>
              </a:rPr>
              <a:t>✓  Prefer mobile data / personal hotspot for sensitive work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0" y="6473952"/>
            <a:ext cx="1216152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274320" y="6492240"/>
            <a:ext cx="1161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98AA"/>
                </a:solidFill>
              </a:rPr>
              <a:t>GREYHAT4HIRE (PTY) LTD  |  Reg: 2026/115528/07  |  www.greyhat4hire.com  |  +27 84 635 3581  |  Suite 2 Corals on Campbell, Umhlanga, Durban, 4320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0D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463040"/>
          </a:xfrm>
          <a:prstGeom prst="rect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" y="91440"/>
            <a:ext cx="1234440" cy="12344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00200" y="4572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SOCIAL ENGINEERING</a:t>
            </a:r>
            <a:endParaRPr lang="en-US" sz="3800" dirty="0"/>
          </a:p>
        </p:txBody>
      </p:sp>
      <p:sp>
        <p:nvSpPr>
          <p:cNvPr id="5" name="Text 2"/>
          <p:cNvSpPr/>
          <p:nvPr/>
        </p:nvSpPr>
        <p:spPr>
          <a:xfrm>
            <a:off x="1600200" y="91440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0CCFF"/>
                </a:solidFill>
              </a:rPr>
              <a:t>The attack that exploits PEOPLE, not technology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274320" y="1600200"/>
            <a:ext cx="11612880" cy="658368"/>
          </a:xfrm>
          <a:prstGeom prst="rect">
            <a:avLst/>
          </a:prstGeom>
          <a:solidFill>
            <a:srgbClr val="2A1A3E"/>
          </a:solidFill>
          <a:ln w="12700">
            <a:solidFill>
              <a:srgbClr val="7B2FB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11480" y="1645920"/>
            <a:ext cx="113385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4A261"/>
                </a:solidFill>
              </a:rPr>
              <a:t>Social engineering</a:t>
            </a:r>
            <a:pPr indent="0" marL="0">
              <a:buNone/>
            </a:pPr>
            <a:r>
              <a:rPr lang="en-US" sz="1150" dirty="0">
                <a:solidFill>
                  <a:srgbClr val="EEEEEE"/>
                </a:solidFill>
              </a:rPr>
              <a:t> is when attackers manipulate people — not systems — using psychology: authority, urgency, fear, curiosity, or helpfulness. No technical skills needed.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274320" y="2423160"/>
            <a:ext cx="3749040" cy="1371600"/>
          </a:xfrm>
          <a:prstGeom prst="rect">
            <a:avLst/>
          </a:prstGeom>
          <a:solidFill>
            <a:srgbClr val="1E1030"/>
          </a:solidFill>
          <a:ln w="25400">
            <a:solidFill>
              <a:srgbClr val="7B2FBE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2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274320" y="2423160"/>
            <a:ext cx="3749040" cy="411480"/>
          </a:xfrm>
          <a:prstGeom prst="rect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84048" y="2459736"/>
            <a:ext cx="34747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Pretexting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384048" y="2898648"/>
            <a:ext cx="34747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DDDDD"/>
                </a:solidFill>
              </a:rPr>
              <a:t>Attacker creates a fabricated scenario: 'I'm from SARS auditing your account' or 'I'm IT and need your password to fix your access.'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4160520" y="2423160"/>
            <a:ext cx="3749040" cy="1371600"/>
          </a:xfrm>
          <a:prstGeom prst="rect">
            <a:avLst/>
          </a:prstGeom>
          <a:solidFill>
            <a:srgbClr val="1E1030"/>
          </a:solidFill>
          <a:ln w="25400">
            <a:solidFill>
              <a:srgbClr val="2E74B5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2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160520" y="2423160"/>
            <a:ext cx="3749040" cy="411480"/>
          </a:xfrm>
          <a:prstGeom prst="rect">
            <a:avLst/>
          </a:prstGeom>
          <a:solidFill>
            <a:srgbClr val="2E74B5"/>
          </a:solidFill>
          <a:ln w="12700">
            <a:solidFill>
              <a:srgbClr val="2E74B5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270248" y="2459736"/>
            <a:ext cx="34747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Baiting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270248" y="2898648"/>
            <a:ext cx="34747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DDDDD"/>
                </a:solidFill>
              </a:rPr>
              <a:t>Leaving a USB drive labelled 'Salary Review 2024' in the car park. Curiosity kills — and installs malware.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8046720" y="2423160"/>
            <a:ext cx="3749040" cy="1371600"/>
          </a:xfrm>
          <a:prstGeom prst="rect">
            <a:avLst/>
          </a:prstGeom>
          <a:solidFill>
            <a:srgbClr val="1E1030"/>
          </a:solidFill>
          <a:ln w="25400">
            <a:solidFill>
              <a:srgbClr val="0D9E8A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20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8046720" y="2423160"/>
            <a:ext cx="3749040" cy="411480"/>
          </a:xfrm>
          <a:prstGeom prst="rect">
            <a:avLst/>
          </a:prstGeom>
          <a:solidFill>
            <a:srgbClr val="0D9E8A"/>
          </a:solidFill>
          <a:ln w="12700">
            <a:solidFill>
              <a:srgbClr val="0D9E8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156448" y="2459736"/>
            <a:ext cx="34747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Quid Pro Quo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156448" y="2898648"/>
            <a:ext cx="34747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DDDDD"/>
                </a:solidFill>
              </a:rPr>
              <a:t>'I can fix your computer issue if you give me your login details.' Attackers offer help to gain access.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274320" y="3904488"/>
            <a:ext cx="3749040" cy="1371600"/>
          </a:xfrm>
          <a:prstGeom prst="rect">
            <a:avLst/>
          </a:prstGeom>
          <a:solidFill>
            <a:srgbClr val="1E1030"/>
          </a:solidFill>
          <a:ln w="25400">
            <a:solidFill>
              <a:srgbClr val="E63946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2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274320" y="3904488"/>
            <a:ext cx="3749040" cy="41148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384048" y="3941064"/>
            <a:ext cx="34747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Tailgating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384048" y="4379976"/>
            <a:ext cx="34747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DDDDD"/>
                </a:solidFill>
              </a:rPr>
              <a:t>Following an authorised person through a secure door before it closes. Physical access enables digital attacks.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4160520" y="3904488"/>
            <a:ext cx="3749040" cy="1371600"/>
          </a:xfrm>
          <a:prstGeom prst="rect">
            <a:avLst/>
          </a:prstGeom>
          <a:solidFill>
            <a:srgbClr val="1E1030"/>
          </a:solidFill>
          <a:ln w="25400">
            <a:solidFill>
              <a:srgbClr val="F4A261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20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4160520" y="3904488"/>
            <a:ext cx="3749040" cy="41148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270248" y="3941064"/>
            <a:ext cx="34747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Impersonation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4270248" y="4379976"/>
            <a:ext cx="34747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DDDDD"/>
                </a:solidFill>
              </a:rPr>
              <a:t>Impersonating IT, HR, or a supplier via phone, email, or in person to extract information or access.</a:t>
            </a:r>
            <a:endParaRPr lang="en-US" sz="950" dirty="0"/>
          </a:p>
        </p:txBody>
      </p:sp>
      <p:sp>
        <p:nvSpPr>
          <p:cNvPr id="28" name="Shape 25"/>
          <p:cNvSpPr/>
          <p:nvPr/>
        </p:nvSpPr>
        <p:spPr>
          <a:xfrm>
            <a:off x="8046720" y="3904488"/>
            <a:ext cx="3749040" cy="1371600"/>
          </a:xfrm>
          <a:prstGeom prst="rect">
            <a:avLst/>
          </a:prstGeom>
          <a:solidFill>
            <a:srgbClr val="1E1030"/>
          </a:solidFill>
          <a:ln w="25400">
            <a:solidFill>
              <a:srgbClr val="E26B0A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20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8046720" y="3904488"/>
            <a:ext cx="3749040" cy="411480"/>
          </a:xfrm>
          <a:prstGeom prst="rect">
            <a:avLst/>
          </a:prstGeom>
          <a:solidFill>
            <a:srgbClr val="E26B0A"/>
          </a:solidFill>
          <a:ln w="12700">
            <a:solidFill>
              <a:srgbClr val="E26B0A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156448" y="3941064"/>
            <a:ext cx="34747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Water-Holing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156448" y="4379976"/>
            <a:ext cx="34747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DDDDD"/>
                </a:solidFill>
              </a:rPr>
              <a:t>Compromising a website your team regularly visits (industry news, supplier portal) to deliver malware.</a:t>
            </a:r>
            <a:endParaRPr lang="en-US" sz="950" dirty="0"/>
          </a:p>
        </p:txBody>
      </p:sp>
      <p:sp>
        <p:nvSpPr>
          <p:cNvPr id="32" name="Shape 29"/>
          <p:cNvSpPr/>
          <p:nvPr/>
        </p:nvSpPr>
        <p:spPr>
          <a:xfrm>
            <a:off x="0" y="6080760"/>
            <a:ext cx="12161520" cy="393192"/>
          </a:xfrm>
          <a:prstGeom prst="rect">
            <a:avLst/>
          </a:prstGeom>
          <a:solidFill>
            <a:srgbClr val="0D0620"/>
          </a:solidFill>
          <a:ln w="12700">
            <a:solidFill>
              <a:srgbClr val="0D0620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274320" y="6099048"/>
            <a:ext cx="11612880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A261"/>
                </a:solidFill>
              </a:rPr>
              <a:t>🛡  DEFENCE: Verify identity independently. Never bypass procedures under 'urgent' pressure. If it feels off, it probably is.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0" y="6473952"/>
            <a:ext cx="1216152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274320" y="6492240"/>
            <a:ext cx="1161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98AA"/>
                </a:solidFill>
              </a:rPr>
              <a:t>GREYHAT4HIRE (PTY) LTD  |  Reg: 2026/115528/07  |  www.greyhat4hire.com  |  +27 84 635 3581  |  Suite 2 Corals on Campbell, Umhlanga, Durban, 4320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6459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82880"/>
            <a:ext cx="1234440" cy="12344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828800" y="45720"/>
            <a:ext cx="9601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REPORT IT.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DON'T IGNORE IT.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548640" y="1783080"/>
            <a:ext cx="11338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2E74B5"/>
                </a:solidFill>
              </a:rPr>
              <a:t>WHEN TO REPORT A SECURITY INCIDENT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2286000"/>
            <a:ext cx="5486400" cy="594360"/>
          </a:xfrm>
          <a:prstGeom prst="rect">
            <a:avLst/>
          </a:prstGeom>
          <a:solidFill>
            <a:srgbClr val="FFFFFF"/>
          </a:solidFill>
          <a:ln w="25400">
            <a:solidFill>
              <a:srgbClr val="E63946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57200" y="2286000"/>
            <a:ext cx="502920" cy="59436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7200" y="2304288"/>
            <a:ext cx="50292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🖱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1051560" y="2359152"/>
            <a:ext cx="475488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D1B2A"/>
                </a:solidFill>
              </a:rPr>
              <a:t>You clicked a suspicious link or opened an attachment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126480" y="2286000"/>
            <a:ext cx="5486400" cy="594360"/>
          </a:xfrm>
          <a:prstGeom prst="rect">
            <a:avLst/>
          </a:prstGeom>
          <a:solidFill>
            <a:srgbClr val="FFFFFF"/>
          </a:solidFill>
          <a:ln w="25400">
            <a:solidFill>
              <a:srgbClr val="E26B0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126480" y="2286000"/>
            <a:ext cx="502920" cy="594360"/>
          </a:xfrm>
          <a:prstGeom prst="rect">
            <a:avLst/>
          </a:prstGeom>
          <a:solidFill>
            <a:srgbClr val="E26B0A"/>
          </a:solidFill>
          <a:ln w="12700">
            <a:solidFill>
              <a:srgbClr val="E26B0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126480" y="2304288"/>
            <a:ext cx="50292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📧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720840" y="2359152"/>
            <a:ext cx="475488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D1B2A"/>
                </a:solidFill>
              </a:rPr>
              <a:t>You received a phishing email (even if you didn't click)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457200" y="2971800"/>
            <a:ext cx="5486400" cy="594360"/>
          </a:xfrm>
          <a:prstGeom prst="rect">
            <a:avLst/>
          </a:prstGeom>
          <a:solidFill>
            <a:srgbClr val="FFFFFF"/>
          </a:solidFill>
          <a:ln w="25400">
            <a:solidFill>
              <a:srgbClr val="E63946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57200" y="2971800"/>
            <a:ext cx="502920" cy="59436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57200" y="2990088"/>
            <a:ext cx="50292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💻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1051560" y="3044952"/>
            <a:ext cx="475488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D1B2A"/>
                </a:solidFill>
              </a:rPr>
              <a:t>Your device was lost, stolen, or accessed by someone else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6126480" y="2971800"/>
            <a:ext cx="5486400" cy="594360"/>
          </a:xfrm>
          <a:prstGeom prst="rect">
            <a:avLst/>
          </a:prstGeom>
          <a:solidFill>
            <a:srgbClr val="FFFFFF"/>
          </a:solidFill>
          <a:ln w="25400">
            <a:solidFill>
              <a:srgbClr val="2E74B5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126480" y="2971800"/>
            <a:ext cx="502920" cy="594360"/>
          </a:xfrm>
          <a:prstGeom prst="rect">
            <a:avLst/>
          </a:prstGeom>
          <a:solidFill>
            <a:srgbClr val="2E74B5"/>
          </a:solidFill>
          <a:ln w="12700">
            <a:solidFill>
              <a:srgbClr val="2E74B5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126480" y="2990088"/>
            <a:ext cx="50292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🔍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6720840" y="3044952"/>
            <a:ext cx="475488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D1B2A"/>
                </a:solidFill>
              </a:rPr>
              <a:t>You noticed unusual account activity (unexpected logins, sent emails)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457200" y="3657600"/>
            <a:ext cx="5486400" cy="594360"/>
          </a:xfrm>
          <a:prstGeom prst="rect">
            <a:avLst/>
          </a:prstGeom>
          <a:solidFill>
            <a:srgbClr val="FFFFFF"/>
          </a:solidFill>
          <a:ln w="25400">
            <a:solidFill>
              <a:srgbClr val="E6394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57200" y="3657600"/>
            <a:ext cx="502920" cy="59436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57200" y="3675888"/>
            <a:ext cx="50292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🔑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1051560" y="3730752"/>
            <a:ext cx="475488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D1B2A"/>
                </a:solidFill>
              </a:rPr>
              <a:t>A colleague or third party asked for your password or credentials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6126480" y="3657600"/>
            <a:ext cx="5486400" cy="594360"/>
          </a:xfrm>
          <a:prstGeom prst="rect">
            <a:avLst/>
          </a:prstGeom>
          <a:solidFill>
            <a:srgbClr val="FFFFFF"/>
          </a:solidFill>
          <a:ln w="25400">
            <a:solidFill>
              <a:srgbClr val="E26B0A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126480" y="3657600"/>
            <a:ext cx="502920" cy="594360"/>
          </a:xfrm>
          <a:prstGeom prst="rect">
            <a:avLst/>
          </a:prstGeom>
          <a:solidFill>
            <a:srgbClr val="E26B0A"/>
          </a:solidFill>
          <a:ln w="12700">
            <a:solidFill>
              <a:srgbClr val="E26B0A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126480" y="3675888"/>
            <a:ext cx="50292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📤</a:t>
            </a:r>
            <a:endParaRPr lang="en-US" sz="1400" dirty="0"/>
          </a:p>
        </p:txBody>
      </p:sp>
      <p:sp>
        <p:nvSpPr>
          <p:cNvPr id="30" name="Text 27"/>
          <p:cNvSpPr/>
          <p:nvPr/>
        </p:nvSpPr>
        <p:spPr>
          <a:xfrm>
            <a:off x="6720840" y="3730752"/>
            <a:ext cx="475488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D1B2A"/>
                </a:solidFill>
              </a:rPr>
              <a:t>You accidentally sent sensitive data to the wrong recipient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457200" y="4343400"/>
            <a:ext cx="5486400" cy="594360"/>
          </a:xfrm>
          <a:prstGeom prst="rect">
            <a:avLst/>
          </a:prstGeom>
          <a:solidFill>
            <a:srgbClr val="FFFFFF"/>
          </a:solidFill>
          <a:ln w="25400">
            <a:solidFill>
              <a:srgbClr val="2E74B5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57200" y="4343400"/>
            <a:ext cx="502920" cy="594360"/>
          </a:xfrm>
          <a:prstGeom prst="rect">
            <a:avLst/>
          </a:prstGeom>
          <a:solidFill>
            <a:srgbClr val="2E74B5"/>
          </a:solidFill>
          <a:ln w="12700">
            <a:solidFill>
              <a:srgbClr val="2E74B5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457200" y="4361688"/>
            <a:ext cx="50292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🔌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1051560" y="4416552"/>
            <a:ext cx="475488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D1B2A"/>
                </a:solidFill>
              </a:rPr>
              <a:t>You found an unattended USB drive or suspicious hardware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6126480" y="4343400"/>
            <a:ext cx="5486400" cy="594360"/>
          </a:xfrm>
          <a:prstGeom prst="rect">
            <a:avLst/>
          </a:prstGeom>
          <a:solidFill>
            <a:srgbClr val="FFFFFF"/>
          </a:solidFill>
          <a:ln w="25400">
            <a:solidFill>
              <a:srgbClr val="E63946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6126480" y="4343400"/>
            <a:ext cx="502920" cy="59436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6126480" y="4361688"/>
            <a:ext cx="50292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⚠</a:t>
            </a:r>
            <a:endParaRPr lang="en-US" sz="1400" dirty="0"/>
          </a:p>
        </p:txBody>
      </p:sp>
      <p:sp>
        <p:nvSpPr>
          <p:cNvPr id="38" name="Text 35"/>
          <p:cNvSpPr/>
          <p:nvPr/>
        </p:nvSpPr>
        <p:spPr>
          <a:xfrm>
            <a:off x="6720840" y="4416552"/>
            <a:ext cx="475488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D1B2A"/>
                </a:solidFill>
              </a:rPr>
              <a:t>A system is behaving strangely (slow, unexpected pop-ups, ransom notes)</a:t>
            </a:r>
            <a:endParaRPr lang="en-US" sz="1050" dirty="0"/>
          </a:p>
        </p:txBody>
      </p:sp>
      <p:sp>
        <p:nvSpPr>
          <p:cNvPr id="39" name="Shape 36"/>
          <p:cNvSpPr/>
          <p:nvPr/>
        </p:nvSpPr>
        <p:spPr>
          <a:xfrm>
            <a:off x="457200" y="5166360"/>
            <a:ext cx="10972800" cy="12344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20000"/>
              </a:srgbClr>
            </a:outerShdw>
          </a:effectLst>
        </p:spPr>
      </p:sp>
      <p:sp>
        <p:nvSpPr>
          <p:cNvPr id="40" name="Text 37"/>
          <p:cNvSpPr/>
          <p:nvPr/>
        </p:nvSpPr>
        <p:spPr>
          <a:xfrm>
            <a:off x="594360" y="5212080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3946"/>
                </a:solidFill>
              </a:rPr>
              <a:t>HOW TO REPORT:</a:t>
            </a:r>
            <a:endParaRPr lang="en-US" sz="1300" dirty="0"/>
          </a:p>
        </p:txBody>
      </p:sp>
      <p:sp>
        <p:nvSpPr>
          <p:cNvPr id="41" name="Text 38"/>
          <p:cNvSpPr/>
          <p:nvPr/>
        </p:nvSpPr>
        <p:spPr>
          <a:xfrm>
            <a:off x="594360" y="557784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3946"/>
                </a:solidFill>
              </a:rPr>
              <a:t>📞 Call IT Security: </a:t>
            </a:r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[Your IT Security Hotline Number]</a:t>
            </a:r>
            <a:endParaRPr lang="en-US" sz="1000" dirty="0"/>
          </a:p>
        </p:txBody>
      </p:sp>
      <p:sp>
        <p:nvSpPr>
          <p:cNvPr id="42" name="Text 39"/>
          <p:cNvSpPr/>
          <p:nvPr/>
        </p:nvSpPr>
        <p:spPr>
          <a:xfrm>
            <a:off x="5897880" y="557784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4B5"/>
                </a:solidFill>
              </a:rPr>
              <a:t>📧 Email: </a:t>
            </a:r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security@[yourcompany.com]</a:t>
            </a:r>
            <a:endParaRPr lang="en-US" sz="1000" dirty="0"/>
          </a:p>
        </p:txBody>
      </p:sp>
      <p:sp>
        <p:nvSpPr>
          <p:cNvPr id="43" name="Text 40"/>
          <p:cNvSpPr/>
          <p:nvPr/>
        </p:nvSpPr>
        <p:spPr>
          <a:xfrm>
            <a:off x="594360" y="587044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4A261"/>
                </a:solidFill>
              </a:rPr>
              <a:t>🔘 Use the 'Report Phishing' button in Outlook/Gmail for suspected phishing emails</a:t>
            </a:r>
            <a:endParaRPr lang="en-US" sz="1000" dirty="0"/>
          </a:p>
        </p:txBody>
      </p:sp>
      <p:sp>
        <p:nvSpPr>
          <p:cNvPr id="44" name="Text 41"/>
          <p:cNvSpPr/>
          <p:nvPr/>
        </p:nvSpPr>
        <p:spPr>
          <a:xfrm>
            <a:off x="594360" y="6144768"/>
            <a:ext cx="10698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6E8A"/>
                </a:solidFill>
              </a:rPr>
              <a:t>📝 Log the incident: </a:t>
            </a:r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Note time, system affected, and what happened</a:t>
            </a:r>
            <a:endParaRPr lang="en-US" sz="1000" dirty="0"/>
          </a:p>
        </p:txBody>
      </p:sp>
      <p:sp>
        <p:nvSpPr>
          <p:cNvPr id="45" name="Shape 42"/>
          <p:cNvSpPr/>
          <p:nvPr/>
        </p:nvSpPr>
        <p:spPr>
          <a:xfrm>
            <a:off x="0" y="6473952"/>
            <a:ext cx="1216152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274320" y="6492240"/>
            <a:ext cx="1161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898AA"/>
                </a:solidFill>
              </a:rPr>
              <a:t>GREYHAT4HIRE (PTY) LTD  |  Reg: 2026/115528/07  |  www.greyhat4hire.com  |  +27 84 635 3581  |  Under POPIA Act 4 of 2013, security incidents involving personal information must be reported promptly.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Cyber Hygiene Poster Set — Greyhat4Hire</dc:title>
  <dc:subject>PptxGenJS Presentation</dc:subject>
  <dc:creator>Greyhat4Hire (Pty) Ltd</dc:creator>
  <cp:lastModifiedBy>Greyhat4Hire (Pty) Ltd</cp:lastModifiedBy>
  <cp:revision>1</cp:revision>
  <dcterms:created xsi:type="dcterms:W3CDTF">2026-02-27T17:42:53Z</dcterms:created>
  <dcterms:modified xsi:type="dcterms:W3CDTF">2026-02-27T17:42:53Z</dcterms:modified>
</cp:coreProperties>
</file>